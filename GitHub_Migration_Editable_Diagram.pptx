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B4"/>
                </a:solidFill>
                <a:latin typeface="Arial"/>
              </a:rPr>
              <a:t>DevOps Tools Consolidation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4297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Arial"/>
              </a:rPr>
              <a:t>GitHub Migration Overall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4EB4"/>
                </a:solidFill>
                <a:latin typeface="Arial"/>
              </a:rPr>
              <a:t>eleks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645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124C43"/>
                </a:solidFill>
                <a:latin typeface="Arial"/>
              </a:rPr>
              <a:t>HCSC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14173200" cy="9144"/>
          </a:xfrm>
          <a:prstGeom prst="rect">
            <a:avLst/>
          </a:prstGeom>
          <a:solidFill>
            <a:srgbClr val="CDD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9326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B4"/>
                </a:solidFill>
                <a:latin typeface="Arial"/>
              </a:rPr>
              <a:t>GitHub Migration Overall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98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rial"/>
              </a:rPr>
              <a:t>Overall Life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581912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Arial"/>
              </a:rPr>
              <a:t>Identity and authorization readiness precede repository migration; remediation and functional validation follow before the HS source environment is archived.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2212848"/>
            <a:ext cx="1572768" cy="713232"/>
          </a:xfrm>
          <a:prstGeom prst="rect">
            <a:avLst/>
          </a:prstGeom>
          <a:solidFill>
            <a:srgbClr val="3D7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D73DC"/>
                </a:solidFill>
                <a:latin typeface="Arial"/>
              </a:rPr>
              <a:t>HCSC IAM
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Coordinate with HCSC IAM to define and prepare the destination authorization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30552" y="2212848"/>
            <a:ext cx="1572768" cy="713232"/>
          </a:xfrm>
          <a:prstGeom prst="rect">
            <a:avLst/>
          </a:prstGeom>
          <a:solidFill>
            <a:srgbClr val="409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370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370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094C4"/>
                </a:solidFill>
                <a:latin typeface="Arial"/>
              </a:rPr>
              <a:t>HS Users Retain
Existing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HS users continue to use their current individual 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7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13632" y="2212848"/>
            <a:ext cx="1572768" cy="713232"/>
          </a:xfrm>
          <a:prstGeom prst="rect">
            <a:avLst/>
          </a:prstGeom>
          <a:solidFill>
            <a:srgbClr val="31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19D92"/>
                </a:solidFill>
                <a:latin typeface="Arial"/>
              </a:rPr>
              <a:t>HCSC Custom
Authorization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Define and validate the HCSC-specific authorization approach for HS users.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9671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96712" y="2212848"/>
            <a:ext cx="1572768" cy="713232"/>
          </a:xfrm>
          <a:prstGeom prst="rect">
            <a:avLst/>
          </a:prstGeom>
          <a:solidFill>
            <a:srgbClr val="71A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986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986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1AE40"/>
                </a:solidFill>
                <a:latin typeface="Arial"/>
              </a:rPr>
              <a:t>Destination Access
Configured / Validated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Validate that required HS users have the necessary HCSC GitHub access.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7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7979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79792" y="2212848"/>
            <a:ext cx="1572768" cy="713232"/>
          </a:xfrm>
          <a:prstGeom prst="rect">
            <a:avLst/>
          </a:prstGeom>
          <a:solidFill>
            <a:srgbClr val="EFA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294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294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AA1F"/>
                </a:solidFill>
                <a:latin typeface="Arial"/>
              </a:rPr>
              <a:t>Repository
Migration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19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Migrate repositories and supported configuration using GEI and automation.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0848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6287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62872" y="2212848"/>
            <a:ext cx="1572768" cy="713232"/>
          </a:xfrm>
          <a:prstGeom prst="rect">
            <a:avLst/>
          </a:prstGeom>
          <a:solidFill>
            <a:srgbClr val="F18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3602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891C"/>
                </a:solidFill>
                <a:latin typeface="Arial"/>
              </a:rPr>
              <a:t>Post-Migration
Remediation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Restore gaps: secrets, runners, variables, integrations, security and access.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3928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4595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45952" y="2212848"/>
            <a:ext cx="1572768" cy="713232"/>
          </a:xfrm>
          <a:prstGeom prst="rect">
            <a:avLst/>
          </a:prstGeom>
          <a:solidFill>
            <a:srgbClr val="884E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1910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910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84ECA"/>
                </a:solidFill>
                <a:latin typeface="Arial"/>
              </a:rPr>
              <a:t>Functional
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Validate workflows, authentication, security, integrations and application functionality.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637008" y="3374136"/>
            <a:ext cx="192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829032" y="2212848"/>
            <a:ext cx="1572768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829032" y="2212848"/>
            <a:ext cx="1572768" cy="713232"/>
          </a:xfrm>
          <a:prstGeom prst="rect">
            <a:avLst/>
          </a:prstGeom>
          <a:solidFill>
            <a:srgbClr val="8F7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02184" y="2322576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902184" y="3035808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F71D5"/>
                </a:solidFill>
                <a:latin typeface="Arial"/>
              </a:rPr>
              <a:t>Source
Archive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38760" y="3694176"/>
            <a:ext cx="1353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D2D2D"/>
                </a:solidFill>
                <a:latin typeface="Arial"/>
              </a:rPr>
              <a:t>Archive validated HS sources and retain selective rollback if required.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0040" y="5285232"/>
            <a:ext cx="139903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1F4EB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53583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B4"/>
                </a:solidFill>
                <a:latin typeface="Arial"/>
              </a:rPr>
              <a:t>Key Principles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574243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2D2D2D"/>
                </a:solidFill>
                <a:latin typeface="Arial"/>
              </a:rPr>
              <a:t>IAM is pre-migration readiness; HS accounts are retained.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0128" y="574243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2D2D2D"/>
                </a:solidFill>
                <a:latin typeface="Arial"/>
              </a:rPr>
              <a:t>HCSC authorization replaces the HS APP ID approach.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3328" y="574243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2D2D2D"/>
                </a:solidFill>
                <a:latin typeface="Arial"/>
              </a:rPr>
              <a:t>GEI completion is an intermediate milestone, not the exit condition.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6528" y="574243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2D2D2D"/>
                </a:solidFill>
                <a:latin typeface="Arial"/>
              </a:rPr>
              <a:t>Validation covers secrets, runners, packages, integrations and authorization.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39728" y="574243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0" i="0">
                <a:solidFill>
                  <a:srgbClr val="2D2D2D"/>
                </a:solidFill>
                <a:latin typeface="Arial"/>
              </a:rPr>
              <a:t>Successful validation precedes HS source archive.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0040" y="6656832"/>
            <a:ext cx="13990320" cy="1078992"/>
          </a:xfrm>
          <a:prstGeom prst="roundRect">
            <a:avLst/>
          </a:prstGeom>
          <a:solidFill>
            <a:srgbClr val="F5F7FA"/>
          </a:solidFill>
          <a:ln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15000" y="67482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B4"/>
                </a:solidFill>
                <a:latin typeface="Arial"/>
              </a:rPr>
              <a:t>Dependency Chain (Critical Path)</a:t>
            </a:r>
          </a:p>
        </p:txBody>
      </p:sp>
      <p:sp>
        <p:nvSpPr>
          <p:cNvPr id="66" name="Oval 65"/>
          <p:cNvSpPr/>
          <p:nvPr/>
        </p:nvSpPr>
        <p:spPr>
          <a:xfrm>
            <a:off x="53035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7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IAM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01952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69" name="Oval 68"/>
          <p:cNvSpPr/>
          <p:nvPr/>
        </p:nvSpPr>
        <p:spPr>
          <a:xfrm>
            <a:off x="226771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78608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Accounts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39312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72" name="Oval 71"/>
          <p:cNvSpPr/>
          <p:nvPr/>
        </p:nvSpPr>
        <p:spPr>
          <a:xfrm>
            <a:off x="400507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15968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Authorization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76672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5742431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53327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Access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1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747979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90688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Migration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51392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921715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28048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Remediation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88752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10954511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65407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Validation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326111" y="7168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6E6E"/>
                </a:solidFill>
                <a:latin typeface="Arial"/>
              </a:rPr>
              <a:t>→</a:t>
            </a:r>
          </a:p>
        </p:txBody>
      </p:sp>
      <p:sp>
        <p:nvSpPr>
          <p:cNvPr id="87" name="Oval 86"/>
          <p:cNvSpPr/>
          <p:nvPr/>
        </p:nvSpPr>
        <p:spPr>
          <a:xfrm>
            <a:off x="12691872" y="7205472"/>
            <a:ext cx="256032" cy="256032"/>
          </a:xfrm>
          <a:prstGeom prst="ellipse">
            <a:avLst/>
          </a:prstGeom>
          <a:solidFill>
            <a:srgbClr val="1F4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002767" y="7159752"/>
            <a:ext cx="1115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2D2D"/>
                </a:solidFill>
                <a:latin typeface="Arial"/>
              </a:rPr>
              <a:t>Archive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