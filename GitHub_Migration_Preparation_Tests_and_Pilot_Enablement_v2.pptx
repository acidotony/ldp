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2800"/>
            </a:pPr>
            <a:r>
              <a:t>GitHub Migration Migration Preparation Tests – Results and Pilot Enablement</a:t>
            </a:r>
          </a:p>
        </p:txBody>
      </p:sp>
      <p:sp>
        <p:nvSpPr>
          <p:cNvPr id="3" name="TextBox 2"/>
          <p:cNvSpPr txBox="1"/>
          <p:nvPr/>
        </p:nvSpPr>
        <p:spPr>
          <a:xfrm>
            <a:off x="685800" y="1234440"/>
            <a:ext cx="10881360" cy="5212080"/>
          </a:xfrm>
          <a:prstGeom prst="rect">
            <a:avLst/>
          </a:prstGeom>
          <a:noFill/>
        </p:spPr>
        <p:txBody>
          <a:bodyPr wrap="square">
            <a:spAutoFit/>
          </a:bodyPr>
          <a:lstStyle/>
          <a:p>
            <a:pPr>
              <a:spcAft>
                <a:spcPts val="500"/>
              </a:spcAft>
              <a:defRPr sz="1600"/>
            </a:pPr>
            <a:r>
              <a:t>Migration Preparation Tests validated the core technical migration approach using test GitHub organizations and repositories.</a:t>
            </a:r>
          </a:p>
          <a:p>
            <a:pPr>
              <a:spcAft>
                <a:spcPts val="500"/>
              </a:spcAft>
              <a:defRPr sz="1600"/>
            </a:pPr>
            <a:r>
              <a:t>Reusable automation foundation established for the pilot:</a:t>
            </a:r>
          </a:p>
          <a:p>
            <a:pPr lvl="1">
              <a:spcAft>
                <a:spcPts val="500"/>
              </a:spcAft>
              <a:defRPr sz="1400"/>
            </a:pPr>
            <a:r>
              <a:t>Preflight validation and migration readiness checks</a:t>
            </a:r>
          </a:p>
          <a:p>
            <a:pPr lvl="1">
              <a:spcAft>
                <a:spcPts val="500"/>
              </a:spcAft>
              <a:defRPr sz="1400"/>
            </a:pPr>
            <a:r>
              <a:t>Repository migration and post-migration configuration activities</a:t>
            </a:r>
          </a:p>
          <a:p>
            <a:pPr lvl="1">
              <a:spcAft>
                <a:spcPts val="500"/>
              </a:spcAft>
              <a:defRPr sz="1400"/>
            </a:pPr>
            <a:r>
              <a:t>Actions variables, secrets, webhooks, packages, teams and application mappings</a:t>
            </a:r>
          </a:p>
          <a:p>
            <a:pPr lvl="1">
              <a:spcAft>
                <a:spcPts val="500"/>
              </a:spcAft>
              <a:defRPr sz="1400"/>
            </a:pPr>
            <a:r>
              <a:t>Jenkins integration handling and targeted rollback</a:t>
            </a:r>
          </a:p>
          <a:p>
            <a:pPr lvl="1">
              <a:spcAft>
                <a:spcPts val="500"/>
              </a:spcAft>
              <a:defRPr sz="1400"/>
            </a:pPr>
            <a:r>
              <a:t>Mannequin reclamation for contributor attribution</a:t>
            </a:r>
          </a:p>
          <a:p>
            <a:pPr>
              <a:spcAft>
                <a:spcPts val="500"/>
              </a:spcAft>
              <a:defRPr sz="1600"/>
            </a:pPr>
            <a:r>
              <a:t>Migration Preparation Tests findings reduce pilot uncertainty — the pilot is not starting from scratch.</a:t>
            </a:r>
          </a:p>
          <a:p>
            <a:pPr>
              <a:spcAft>
                <a:spcPts val="500"/>
              </a:spcAft>
              <a:defRPr sz="1600"/>
            </a:pPr>
            <a:r>
              <a:t>Pilot will apply the framework to 10–20 representative repositories in the actual HCSC target environment.</a:t>
            </a:r>
          </a:p>
          <a:p>
            <a:pPr>
              <a:spcAft>
                <a:spcPts val="500"/>
              </a:spcAft>
              <a:defRPr sz="1600"/>
            </a:pPr>
            <a:r>
              <a:t>Pilot will validate real permissions, policies, identities and integrations; measure effort and duration; identify manual exceptions; and determine production wave sizing.</a:t>
            </a:r>
          </a:p>
          <a:p>
            <a:pPr>
              <a:spcAft>
                <a:spcPts val="500"/>
              </a:spcAft>
              <a:defRPr sz="1600"/>
            </a:pPr>
            <a:r>
              <a:t>Target outcome: a repeatable, measurable process that can scale across approximately 2,300 repositories.</a:t>
            </a:r>
          </a:p>
        </p:txBody>
      </p:sp>
      <p:sp>
        <p:nvSpPr>
          <p:cNvPr id="4" name="TextBox 3"/>
          <p:cNvSpPr txBox="1"/>
          <p:nvPr/>
        </p:nvSpPr>
        <p:spPr>
          <a:xfrm>
            <a:off x="685800" y="5806440"/>
            <a:ext cx="10881360" cy="777240"/>
          </a:xfrm>
          <a:prstGeom prst="rect">
            <a:avLst/>
          </a:prstGeom>
          <a:noFill/>
        </p:spPr>
        <p:txBody>
          <a:bodyPr wrap="square">
            <a:spAutoFit/>
          </a:bodyPr>
          <a:lstStyle/>
          <a:p>
            <a:pPr>
              <a:defRPr sz="1100"/>
            </a:pPr>
            <a:r>
              <a:t>How this helps the Pilot Migration: The Migration Preparation Tests have already completed a significant portion of the technical groundwork. The pilot can focus on adapting and validating existing automation against the actual HCSC target environment and representative repositories rather than designing the process from scratch. This reduces implementation effort and allows the pilot to concentrate on remaining gaps, migration effort and throughput, operational procedures, and readiness to scale.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